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5"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16DC79-D4DF-4FB4-93D3-9EDDC7CB95A7}" type="datetimeFigureOut">
              <a:rPr lang="en-IN" smtClean="0"/>
              <a:t>15-12-2025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A835EA-FC8E-43CC-AAB3-8FBD141BB081}" type="slidenum">
              <a:rPr lang="en-IN" smtClean="0"/>
              <a:t>‹#›</a:t>
            </a:fld>
            <a:endParaRPr lang="en-IN"/>
          </a:p>
        </p:txBody>
      </p:sp>
    </p:spTree>
    <p:extLst>
      <p:ext uri="{BB962C8B-B14F-4D97-AF65-F5344CB8AC3E}">
        <p14:creationId xmlns:p14="http://schemas.microsoft.com/office/powerpoint/2010/main" val="1308271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A835EA-FC8E-43CC-AAB3-8FBD141BB081}" type="slidenum">
              <a:rPr lang="en-IN" smtClean="0"/>
              <a:t>1</a:t>
            </a:fld>
            <a:endParaRPr lang="en-IN"/>
          </a:p>
        </p:txBody>
      </p:sp>
    </p:spTree>
    <p:extLst>
      <p:ext uri="{BB962C8B-B14F-4D97-AF65-F5344CB8AC3E}">
        <p14:creationId xmlns:p14="http://schemas.microsoft.com/office/powerpoint/2010/main" val="278165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82536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52960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00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2211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53650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8769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4596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5167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3988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2837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667852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81868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3951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46898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76683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7442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12/15/2025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49632282"/>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i="1" dirty="0"/>
              <a:t>SALES DATASET ANALYSIS</a:t>
            </a:r>
            <a:endParaRPr b="1" i="1" dirty="0"/>
          </a:p>
        </p:txBody>
      </p:sp>
      <p:sp>
        <p:nvSpPr>
          <p:cNvPr id="3" name="Subtitle 2"/>
          <p:cNvSpPr>
            <a:spLocks noGrp="1"/>
          </p:cNvSpPr>
          <p:nvPr>
            <p:ph type="subTitle" idx="1"/>
          </p:nvPr>
        </p:nvSpPr>
        <p:spPr/>
        <p:txBody>
          <a:bodyPr>
            <a:normAutofit fontScale="70000" lnSpcReduction="20000"/>
          </a:bodyPr>
          <a:lstStyle/>
          <a:p>
            <a:pPr algn="r"/>
            <a:r>
              <a:rPr lang="en-US" sz="2800" i="1" dirty="0">
                <a:solidFill>
                  <a:schemeClr val="tx1"/>
                </a:solidFill>
              </a:rPr>
              <a:t>KIRAN M</a:t>
            </a:r>
          </a:p>
          <a:p>
            <a:pPr algn="r"/>
            <a:r>
              <a:rPr lang="en-US" sz="2800" i="1" dirty="0">
                <a:solidFill>
                  <a:schemeClr val="tx1"/>
                </a:solidFill>
              </a:rPr>
              <a:t>DA&amp;DS </a:t>
            </a:r>
          </a:p>
          <a:p>
            <a:pPr algn="r"/>
            <a:r>
              <a:rPr lang="en-US" sz="2800" i="1" dirty="0">
                <a:solidFill>
                  <a:schemeClr val="tx1"/>
                </a:solidFill>
              </a:rPr>
              <a:t>MAY BATCH</a:t>
            </a:r>
            <a:endParaRPr sz="2800" i="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99237"/>
            <a:ext cx="6347713" cy="1320800"/>
          </a:xfrm>
        </p:spPr>
        <p:txBody>
          <a:bodyPr>
            <a:normAutofit/>
          </a:bodyPr>
          <a:lstStyle/>
          <a:p>
            <a:r>
              <a:rPr sz="4000" dirty="0"/>
              <a:t>Project Overview &amp; Objectives</a:t>
            </a:r>
          </a:p>
        </p:txBody>
      </p:sp>
      <p:sp>
        <p:nvSpPr>
          <p:cNvPr id="3" name="Content Placeholder 2"/>
          <p:cNvSpPr>
            <a:spLocks noGrp="1"/>
          </p:cNvSpPr>
          <p:nvPr>
            <p:ph idx="1"/>
          </p:nvPr>
        </p:nvSpPr>
        <p:spPr>
          <a:xfrm>
            <a:off x="457200" y="1166018"/>
            <a:ext cx="8229600" cy="4525963"/>
          </a:xfrm>
        </p:spPr>
        <p:txBody>
          <a:bodyPr>
            <a:normAutofit fontScale="70000" lnSpcReduction="20000"/>
          </a:bodyPr>
          <a:lstStyle/>
          <a:p>
            <a:endParaRPr dirty="0"/>
          </a:p>
          <a:p>
            <a:r>
              <a:rPr sz="3300" dirty="0"/>
              <a:t>Project Objective: </a:t>
            </a:r>
            <a:r>
              <a:rPr lang="en-US" sz="3300" dirty="0"/>
              <a:t>Leverage data-driven insights to enhance sales strategies and operational efficiency. Identify growth opportunities, optimize revenue, and develop predictive sales models.</a:t>
            </a:r>
            <a:endParaRPr sz="3300" dirty="0"/>
          </a:p>
          <a:p>
            <a:r>
              <a:rPr sz="3300" dirty="0"/>
              <a:t>Goals:</a:t>
            </a:r>
          </a:p>
          <a:p>
            <a:pPr lvl="1"/>
            <a:r>
              <a:rPr sz="3300" dirty="0"/>
              <a:t>Analyze sales trends over time.</a:t>
            </a:r>
          </a:p>
          <a:p>
            <a:pPr lvl="1"/>
            <a:r>
              <a:rPr sz="3300" dirty="0"/>
              <a:t>Identify</a:t>
            </a:r>
            <a:r>
              <a:rPr lang="en-US" sz="3300" dirty="0"/>
              <a:t> underperforming products and suggest improvement strategies</a:t>
            </a:r>
            <a:r>
              <a:rPr sz="3300" dirty="0"/>
              <a:t>.</a:t>
            </a:r>
          </a:p>
          <a:p>
            <a:pPr lvl="1"/>
            <a:r>
              <a:rPr lang="en-US" sz="3300" dirty="0"/>
              <a:t>Optimize discount strategies to maximize profitability</a:t>
            </a:r>
            <a:r>
              <a:rPr sz="3300" dirty="0"/>
              <a:t>.</a:t>
            </a:r>
          </a:p>
          <a:p>
            <a:pPr lvl="1"/>
            <a:r>
              <a:rPr lang="en-US" sz="3300" dirty="0"/>
              <a:t>Enhance reporting efficiency through automated excel tools</a:t>
            </a:r>
            <a:r>
              <a:rPr sz="33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23363"/>
            <a:ext cx="6347713" cy="1320800"/>
          </a:xfrm>
        </p:spPr>
        <p:txBody>
          <a:bodyPr>
            <a:normAutofit/>
          </a:bodyPr>
          <a:lstStyle/>
          <a:p>
            <a:r>
              <a:rPr sz="4000" dirty="0"/>
              <a:t>Data Description and Preparation</a:t>
            </a:r>
          </a:p>
        </p:txBody>
      </p:sp>
      <p:sp>
        <p:nvSpPr>
          <p:cNvPr id="3" name="Content Placeholder 2"/>
          <p:cNvSpPr>
            <a:spLocks noGrp="1"/>
          </p:cNvSpPr>
          <p:nvPr>
            <p:ph idx="1"/>
          </p:nvPr>
        </p:nvSpPr>
        <p:spPr>
          <a:xfrm>
            <a:off x="609599" y="1556976"/>
            <a:ext cx="6347714" cy="3880773"/>
          </a:xfrm>
        </p:spPr>
        <p:txBody>
          <a:bodyPr>
            <a:normAutofit/>
          </a:bodyPr>
          <a:lstStyle/>
          <a:p>
            <a:r>
              <a:rPr lang="en-US" sz="2800" dirty="0"/>
              <a:t>Remove duplicates &amp;handled missing values.</a:t>
            </a:r>
          </a:p>
          <a:p>
            <a:r>
              <a:rPr lang="en-US" sz="2800" dirty="0"/>
              <a:t>Formatted data for better readability.</a:t>
            </a:r>
          </a:p>
          <a:p>
            <a:r>
              <a:rPr lang="en-US" sz="2800" dirty="0"/>
              <a:t>Used power query for transformation</a:t>
            </a:r>
            <a:r>
              <a:rPr lang="en-US" dirty="0"/>
              <a:t>.</a:t>
            </a:r>
            <a:endParaRPr dirty="0"/>
          </a:p>
        </p:txBody>
      </p:sp>
      <p:pic>
        <p:nvPicPr>
          <p:cNvPr id="7" name="Picture 6">
            <a:extLst>
              <a:ext uri="{FF2B5EF4-FFF2-40B4-BE49-F238E27FC236}">
                <a16:creationId xmlns:a16="http://schemas.microsoft.com/office/drawing/2014/main" id="{15CD56EE-C450-46AE-85C7-2AB982600175}"/>
              </a:ext>
            </a:extLst>
          </p:cNvPr>
          <p:cNvPicPr>
            <a:picLocks noChangeAspect="1"/>
          </p:cNvPicPr>
          <p:nvPr/>
        </p:nvPicPr>
        <p:blipFill>
          <a:blip r:embed="rId2"/>
          <a:stretch>
            <a:fillRect/>
          </a:stretch>
        </p:blipFill>
        <p:spPr>
          <a:xfrm>
            <a:off x="685600" y="4455042"/>
            <a:ext cx="3471730" cy="1943685"/>
          </a:xfrm>
          <a:prstGeom prst="rect">
            <a:avLst/>
          </a:prstGeom>
        </p:spPr>
      </p:pic>
      <p:pic>
        <p:nvPicPr>
          <p:cNvPr id="9" name="Picture 8">
            <a:extLst>
              <a:ext uri="{FF2B5EF4-FFF2-40B4-BE49-F238E27FC236}">
                <a16:creationId xmlns:a16="http://schemas.microsoft.com/office/drawing/2014/main" id="{CFE90F4E-5EEB-88F7-556B-4C30D10EBAF8}"/>
              </a:ext>
            </a:extLst>
          </p:cNvPr>
          <p:cNvPicPr>
            <a:picLocks noChangeAspect="1"/>
          </p:cNvPicPr>
          <p:nvPr/>
        </p:nvPicPr>
        <p:blipFill>
          <a:blip r:embed="rId3"/>
          <a:stretch>
            <a:fillRect/>
          </a:stretch>
        </p:blipFill>
        <p:spPr>
          <a:xfrm>
            <a:off x="4673211" y="4455041"/>
            <a:ext cx="3928528" cy="194368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4659" y="205881"/>
            <a:ext cx="6347713" cy="1320800"/>
          </a:xfrm>
        </p:spPr>
        <p:txBody>
          <a:bodyPr>
            <a:normAutofit/>
          </a:bodyPr>
          <a:lstStyle/>
          <a:p>
            <a:r>
              <a:rPr dirty="0"/>
              <a:t>Key Metrics Calculation and Data Analysis</a:t>
            </a:r>
          </a:p>
        </p:txBody>
      </p:sp>
      <p:sp>
        <p:nvSpPr>
          <p:cNvPr id="3" name="Content Placeholder 2"/>
          <p:cNvSpPr>
            <a:spLocks noGrp="1"/>
          </p:cNvSpPr>
          <p:nvPr>
            <p:ph idx="1"/>
          </p:nvPr>
        </p:nvSpPr>
        <p:spPr>
          <a:xfrm>
            <a:off x="457200" y="1151823"/>
            <a:ext cx="8229600" cy="4525963"/>
          </a:xfrm>
        </p:spPr>
        <p:txBody>
          <a:bodyPr>
            <a:normAutofit/>
          </a:bodyPr>
          <a:lstStyle/>
          <a:p>
            <a:endParaRPr dirty="0"/>
          </a:p>
          <a:p>
            <a:r>
              <a:rPr lang="en-US" sz="2800" dirty="0"/>
              <a:t>I</a:t>
            </a:r>
            <a:r>
              <a:rPr sz="2800" dirty="0"/>
              <a:t>mportant Calculations:</a:t>
            </a:r>
          </a:p>
          <a:p>
            <a:pPr lvl="1"/>
            <a:r>
              <a:rPr dirty="0"/>
              <a:t>Total sales (</a:t>
            </a:r>
            <a:r>
              <a:rPr lang="en-IN" dirty="0"/>
              <a:t>=SUM(sales)</a:t>
            </a:r>
            <a:r>
              <a:rPr dirty="0"/>
              <a:t>)</a:t>
            </a:r>
            <a:r>
              <a:rPr lang="en-US" dirty="0"/>
              <a:t>-</a:t>
            </a:r>
            <a:endParaRPr dirty="0"/>
          </a:p>
          <a:p>
            <a:pPr lvl="1"/>
            <a:r>
              <a:rPr dirty="0"/>
              <a:t>Average order</a:t>
            </a:r>
            <a:r>
              <a:rPr lang="en-US" dirty="0"/>
              <a:t> value(</a:t>
            </a:r>
            <a:r>
              <a:rPr lang="en-IN" dirty="0"/>
              <a:t>=AVERAGE(adjusted sales))</a:t>
            </a:r>
            <a:endParaRPr dirty="0"/>
          </a:p>
          <a:p>
            <a:pPr lvl="1"/>
            <a:r>
              <a:rPr lang="en-US" dirty="0"/>
              <a:t>Total </a:t>
            </a:r>
            <a:r>
              <a:rPr dirty="0"/>
              <a:t>Discount</a:t>
            </a:r>
            <a:r>
              <a:rPr lang="en-US" dirty="0"/>
              <a:t> (=SUM(discount))</a:t>
            </a:r>
          </a:p>
          <a:p>
            <a:pPr lvl="1"/>
            <a:r>
              <a:rPr lang="en-US" dirty="0"/>
              <a:t>Average discount per order(=AVERAGE(quantity))</a:t>
            </a:r>
          </a:p>
          <a:p>
            <a:pPr lvl="1"/>
            <a:r>
              <a:rPr lang="en-US" dirty="0"/>
              <a:t>Adjusted Sales(=[@Sales]*(1-[@Discount]/100))</a:t>
            </a:r>
            <a:endParaRPr dirty="0"/>
          </a:p>
        </p:txBody>
      </p:sp>
      <p:pic>
        <p:nvPicPr>
          <p:cNvPr id="5" name="Picture 4">
            <a:extLst>
              <a:ext uri="{FF2B5EF4-FFF2-40B4-BE49-F238E27FC236}">
                <a16:creationId xmlns:a16="http://schemas.microsoft.com/office/drawing/2014/main" id="{EFDC2686-7AF9-B0B1-03D2-2D738F81771D}"/>
              </a:ext>
            </a:extLst>
          </p:cNvPr>
          <p:cNvPicPr>
            <a:picLocks noChangeAspect="1"/>
          </p:cNvPicPr>
          <p:nvPr/>
        </p:nvPicPr>
        <p:blipFill>
          <a:blip r:embed="rId2"/>
          <a:stretch>
            <a:fillRect/>
          </a:stretch>
        </p:blipFill>
        <p:spPr>
          <a:xfrm>
            <a:off x="845759" y="4071918"/>
            <a:ext cx="6045511" cy="215911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3233"/>
            <a:ext cx="6347713" cy="1320800"/>
          </a:xfrm>
        </p:spPr>
        <p:txBody>
          <a:bodyPr>
            <a:normAutofit/>
          </a:bodyPr>
          <a:lstStyle/>
          <a:p>
            <a:r>
              <a:rPr sz="4000" dirty="0"/>
              <a:t>Pivot Tables and Pivot Charts</a:t>
            </a:r>
          </a:p>
        </p:txBody>
      </p:sp>
      <p:sp>
        <p:nvSpPr>
          <p:cNvPr id="3" name="Content Placeholder 2"/>
          <p:cNvSpPr>
            <a:spLocks noGrp="1"/>
          </p:cNvSpPr>
          <p:nvPr>
            <p:ph idx="1"/>
          </p:nvPr>
        </p:nvSpPr>
        <p:spPr>
          <a:xfrm>
            <a:off x="609599" y="1688111"/>
            <a:ext cx="6347714" cy="3880773"/>
          </a:xfrm>
        </p:spPr>
        <p:txBody>
          <a:bodyPr>
            <a:normAutofit/>
          </a:bodyPr>
          <a:lstStyle/>
          <a:p>
            <a:r>
              <a:rPr lang="en-US" sz="2800" dirty="0"/>
              <a:t>Created pivot tables for analysis</a:t>
            </a:r>
          </a:p>
          <a:p>
            <a:r>
              <a:rPr lang="en-US" sz="2800" dirty="0"/>
              <a:t>Used charts to visualize trends</a:t>
            </a:r>
          </a:p>
          <a:p>
            <a:r>
              <a:rPr lang="en-US" sz="2800" dirty="0"/>
              <a:t>Compared sales by order, return and year</a:t>
            </a:r>
          </a:p>
          <a:p>
            <a:r>
              <a:rPr lang="en-US" sz="2800" dirty="0"/>
              <a:t>Made data easy to understand</a:t>
            </a:r>
            <a:endParaRPr sz="2800" dirty="0"/>
          </a:p>
        </p:txBody>
      </p:sp>
      <p:pic>
        <p:nvPicPr>
          <p:cNvPr id="5" name="Picture 4">
            <a:extLst>
              <a:ext uri="{FF2B5EF4-FFF2-40B4-BE49-F238E27FC236}">
                <a16:creationId xmlns:a16="http://schemas.microsoft.com/office/drawing/2014/main" id="{BF1ED976-9925-8DC3-C350-660B56964192}"/>
              </a:ext>
            </a:extLst>
          </p:cNvPr>
          <p:cNvPicPr>
            <a:picLocks noChangeAspect="1"/>
          </p:cNvPicPr>
          <p:nvPr/>
        </p:nvPicPr>
        <p:blipFill>
          <a:blip r:embed="rId2"/>
          <a:stretch>
            <a:fillRect/>
          </a:stretch>
        </p:blipFill>
        <p:spPr>
          <a:xfrm>
            <a:off x="1545947" y="4248076"/>
            <a:ext cx="5073911" cy="22766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Dashboard Overview</a:t>
            </a:r>
          </a:p>
        </p:txBody>
      </p:sp>
      <p:sp>
        <p:nvSpPr>
          <p:cNvPr id="3" name="Content Placeholder 2"/>
          <p:cNvSpPr>
            <a:spLocks noGrp="1"/>
          </p:cNvSpPr>
          <p:nvPr>
            <p:ph idx="1"/>
          </p:nvPr>
        </p:nvSpPr>
        <p:spPr/>
        <p:txBody>
          <a:bodyPr>
            <a:normAutofit/>
          </a:bodyPr>
          <a:lstStyle/>
          <a:p>
            <a:r>
              <a:rPr lang="en-US" sz="2800" dirty="0"/>
              <a:t>Shows key performance metrics</a:t>
            </a:r>
          </a:p>
          <a:p>
            <a:r>
              <a:rPr lang="en-US" sz="2800" dirty="0"/>
              <a:t>Include sales per yar and products</a:t>
            </a:r>
          </a:p>
          <a:p>
            <a:r>
              <a:rPr lang="en-US" sz="2800" dirty="0"/>
              <a:t>Interactive with slicers</a:t>
            </a:r>
            <a:endParaRPr sz="2800" dirty="0"/>
          </a:p>
        </p:txBody>
      </p:sp>
      <p:pic>
        <p:nvPicPr>
          <p:cNvPr id="5" name="Picture 4">
            <a:extLst>
              <a:ext uri="{FF2B5EF4-FFF2-40B4-BE49-F238E27FC236}">
                <a16:creationId xmlns:a16="http://schemas.microsoft.com/office/drawing/2014/main" id="{0DB52368-12AF-6ED2-3A3F-67F6FF8DD4D1}"/>
              </a:ext>
            </a:extLst>
          </p:cNvPr>
          <p:cNvPicPr>
            <a:picLocks noChangeAspect="1"/>
          </p:cNvPicPr>
          <p:nvPr/>
        </p:nvPicPr>
        <p:blipFill>
          <a:blip r:embed="rId2"/>
          <a:stretch>
            <a:fillRect/>
          </a:stretch>
        </p:blipFill>
        <p:spPr>
          <a:xfrm>
            <a:off x="457201" y="3880884"/>
            <a:ext cx="7102548" cy="27963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What-If Analysis &amp; Goal Seek</a:t>
            </a:r>
          </a:p>
        </p:txBody>
      </p:sp>
      <p:sp>
        <p:nvSpPr>
          <p:cNvPr id="3" name="Content Placeholder 2"/>
          <p:cNvSpPr>
            <a:spLocks noGrp="1"/>
          </p:cNvSpPr>
          <p:nvPr>
            <p:ph idx="1"/>
          </p:nvPr>
        </p:nvSpPr>
        <p:spPr/>
        <p:txBody>
          <a:bodyPr>
            <a:normAutofit/>
          </a:bodyPr>
          <a:lstStyle/>
          <a:p>
            <a:r>
              <a:rPr lang="en-US" sz="2800" dirty="0"/>
              <a:t>Analyzed profit variations</a:t>
            </a:r>
          </a:p>
          <a:p>
            <a:r>
              <a:rPr lang="en-US" sz="2800" dirty="0"/>
              <a:t>Helped in business planning</a:t>
            </a:r>
          </a:p>
          <a:p>
            <a:r>
              <a:rPr lang="en-US" sz="2800" dirty="0"/>
              <a:t>Impact of a 10% price increase on revenue</a:t>
            </a:r>
          </a:p>
          <a:p>
            <a:r>
              <a:rPr lang="en-US" sz="2800" dirty="0"/>
              <a:t>Impact of a 5% price decrease on revenue</a:t>
            </a:r>
            <a:endParaRPr sz="2800" dirty="0"/>
          </a:p>
        </p:txBody>
      </p:sp>
      <p:pic>
        <p:nvPicPr>
          <p:cNvPr id="5" name="Picture 4">
            <a:extLst>
              <a:ext uri="{FF2B5EF4-FFF2-40B4-BE49-F238E27FC236}">
                <a16:creationId xmlns:a16="http://schemas.microsoft.com/office/drawing/2014/main" id="{48896585-B264-C4F9-AE03-D5080A347F2E}"/>
              </a:ext>
            </a:extLst>
          </p:cNvPr>
          <p:cNvPicPr>
            <a:picLocks noChangeAspect="1"/>
          </p:cNvPicPr>
          <p:nvPr/>
        </p:nvPicPr>
        <p:blipFill>
          <a:blip r:embed="rId2"/>
          <a:stretch>
            <a:fillRect/>
          </a:stretch>
        </p:blipFill>
        <p:spPr>
          <a:xfrm>
            <a:off x="667932" y="4758070"/>
            <a:ext cx="2317898" cy="1637413"/>
          </a:xfrm>
          <a:prstGeom prst="rect">
            <a:avLst/>
          </a:prstGeom>
        </p:spPr>
      </p:pic>
      <p:pic>
        <p:nvPicPr>
          <p:cNvPr id="7" name="Picture 6">
            <a:extLst>
              <a:ext uri="{FF2B5EF4-FFF2-40B4-BE49-F238E27FC236}">
                <a16:creationId xmlns:a16="http://schemas.microsoft.com/office/drawing/2014/main" id="{D555453C-7382-D4FC-05C1-F5D35B82B25A}"/>
              </a:ext>
            </a:extLst>
          </p:cNvPr>
          <p:cNvPicPr>
            <a:picLocks noChangeAspect="1"/>
          </p:cNvPicPr>
          <p:nvPr/>
        </p:nvPicPr>
        <p:blipFill>
          <a:blip r:embed="rId3"/>
          <a:stretch>
            <a:fillRect/>
          </a:stretch>
        </p:blipFill>
        <p:spPr>
          <a:xfrm>
            <a:off x="5723565" y="4844823"/>
            <a:ext cx="3176767" cy="1463905"/>
          </a:xfrm>
          <a:prstGeom prst="rect">
            <a:avLst/>
          </a:prstGeom>
        </p:spPr>
      </p:pic>
      <p:pic>
        <p:nvPicPr>
          <p:cNvPr id="9" name="Picture 8">
            <a:extLst>
              <a:ext uri="{FF2B5EF4-FFF2-40B4-BE49-F238E27FC236}">
                <a16:creationId xmlns:a16="http://schemas.microsoft.com/office/drawing/2014/main" id="{1E9C012A-013D-A932-B137-CC8B92CB1A07}"/>
              </a:ext>
            </a:extLst>
          </p:cNvPr>
          <p:cNvPicPr>
            <a:picLocks noChangeAspect="1"/>
          </p:cNvPicPr>
          <p:nvPr/>
        </p:nvPicPr>
        <p:blipFill>
          <a:blip r:embed="rId4"/>
          <a:stretch>
            <a:fillRect/>
          </a:stretch>
        </p:blipFill>
        <p:spPr>
          <a:xfrm>
            <a:off x="3149528" y="4844823"/>
            <a:ext cx="2410339" cy="14639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Macros and Automation</a:t>
            </a:r>
          </a:p>
        </p:txBody>
      </p:sp>
      <p:sp>
        <p:nvSpPr>
          <p:cNvPr id="3" name="Content Placeholder 2"/>
          <p:cNvSpPr>
            <a:spLocks noGrp="1"/>
          </p:cNvSpPr>
          <p:nvPr>
            <p:ph idx="1"/>
          </p:nvPr>
        </p:nvSpPr>
        <p:spPr>
          <a:xfrm>
            <a:off x="609598" y="1635515"/>
            <a:ext cx="6347714" cy="3880773"/>
          </a:xfrm>
        </p:spPr>
        <p:txBody>
          <a:bodyPr>
            <a:normAutofit/>
          </a:bodyPr>
          <a:lstStyle/>
          <a:p>
            <a:r>
              <a:rPr lang="en-US" sz="2800" dirty="0"/>
              <a:t>Automating data formatting and calculations.</a:t>
            </a:r>
          </a:p>
          <a:p>
            <a:r>
              <a:rPr lang="en-US" sz="2800" dirty="0"/>
              <a:t>Creating reports and updating charts.</a:t>
            </a:r>
          </a:p>
          <a:p>
            <a:r>
              <a:rPr lang="en-US" sz="2800" dirty="0"/>
              <a:t>Save time, reduces errors, and improves efficiency</a:t>
            </a:r>
          </a:p>
          <a:p>
            <a:endParaRPr dirty="0"/>
          </a:p>
        </p:txBody>
      </p:sp>
      <p:pic>
        <p:nvPicPr>
          <p:cNvPr id="5" name="Picture 4">
            <a:extLst>
              <a:ext uri="{FF2B5EF4-FFF2-40B4-BE49-F238E27FC236}">
                <a16:creationId xmlns:a16="http://schemas.microsoft.com/office/drawing/2014/main" id="{AD5DE7C0-FC37-459D-0B77-E9449F8513A8}"/>
              </a:ext>
            </a:extLst>
          </p:cNvPr>
          <p:cNvPicPr>
            <a:picLocks noChangeAspect="1"/>
          </p:cNvPicPr>
          <p:nvPr/>
        </p:nvPicPr>
        <p:blipFill>
          <a:blip r:embed="rId2"/>
          <a:stretch>
            <a:fillRect/>
          </a:stretch>
        </p:blipFill>
        <p:spPr>
          <a:xfrm>
            <a:off x="531627" y="4522017"/>
            <a:ext cx="7102549" cy="20201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Insights and Recommendations</a:t>
            </a:r>
          </a:p>
        </p:txBody>
      </p:sp>
      <p:sp>
        <p:nvSpPr>
          <p:cNvPr id="3" name="Content Placeholder 2"/>
          <p:cNvSpPr>
            <a:spLocks noGrp="1"/>
          </p:cNvSpPr>
          <p:nvPr>
            <p:ph idx="1"/>
          </p:nvPr>
        </p:nvSpPr>
        <p:spPr>
          <a:xfrm>
            <a:off x="609598" y="2160590"/>
            <a:ext cx="7056475" cy="4941959"/>
          </a:xfrm>
        </p:spPr>
        <p:txBody>
          <a:bodyPr>
            <a:normAutofit fontScale="32500" lnSpcReduction="20000"/>
          </a:bodyPr>
          <a:lstStyle/>
          <a:p>
            <a:pPr algn="just"/>
            <a:r>
              <a:rPr lang="en-US" sz="7400" b="1" dirty="0">
                <a:latin typeface="+mj-lt"/>
              </a:rPr>
              <a:t>Insights</a:t>
            </a:r>
            <a:r>
              <a:rPr lang="en-US" sz="7400" dirty="0">
                <a:latin typeface="+mj-lt"/>
              </a:rPr>
              <a:t>: The </a:t>
            </a:r>
            <a:r>
              <a:rPr lang="en-US" sz="8000" dirty="0">
                <a:latin typeface="+mj-lt"/>
              </a:rPr>
              <a:t>Superstore</a:t>
            </a:r>
            <a:r>
              <a:rPr lang="en-US" sz="7400" dirty="0">
                <a:latin typeface="+mj-lt"/>
              </a:rPr>
              <a:t> experienced significant overall growth in sales, particularly in the Technology category. Seasonal trends indicate a need for promotional strategies during slower months to maintain sales momentum. </a:t>
            </a:r>
          </a:p>
          <a:p>
            <a:pPr algn="just"/>
            <a:r>
              <a:rPr lang="en-US" sz="7400" b="1" dirty="0">
                <a:latin typeface="+mj-lt"/>
              </a:rPr>
              <a:t>Recommendations</a:t>
            </a:r>
            <a:r>
              <a:rPr lang="en-US" sz="7400" dirty="0">
                <a:latin typeface="+mj-lt"/>
              </a:rPr>
              <a:t>: Boost Office Supplies and Furniture Sales Since Office Supplies and Furniture categories are performing comparatively lower than Technology, it is recommended to implement targeted promotional campaigns for these categories. Consider bundling offers, limited-time discounts, or season-based promotions to improve their visibility and sales performance</a:t>
            </a:r>
            <a:r>
              <a:rPr lang="en-US" sz="2800" dirty="0">
                <a:latin typeface="+mj-lt"/>
              </a:rPr>
              <a:t>.</a:t>
            </a:r>
            <a:endParaRPr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Conclusion and Questions</a:t>
            </a:r>
          </a:p>
        </p:txBody>
      </p:sp>
      <p:sp>
        <p:nvSpPr>
          <p:cNvPr id="3" name="Content Placeholder 2"/>
          <p:cNvSpPr>
            <a:spLocks noGrp="1"/>
          </p:cNvSpPr>
          <p:nvPr>
            <p:ph idx="1"/>
          </p:nvPr>
        </p:nvSpPr>
        <p:spPr/>
        <p:txBody>
          <a:bodyPr>
            <a:normAutofit fontScale="92500"/>
          </a:bodyPr>
          <a:lstStyle/>
          <a:p>
            <a:pPr algn="just"/>
            <a:r>
              <a:rPr lang="en-US" sz="2800" dirty="0"/>
              <a:t>Sales analysis: Aids decision-making by identifying trends and optimizing strategies.</a:t>
            </a:r>
          </a:p>
          <a:p>
            <a:pPr algn="just"/>
            <a:r>
              <a:rPr lang="en-US" sz="2800" dirty="0"/>
              <a:t>Data visualization: Simplifies reporting for quick and clear insights.</a:t>
            </a:r>
          </a:p>
          <a:p>
            <a:pPr algn="just"/>
            <a:r>
              <a:rPr lang="en-US" sz="2800" dirty="0"/>
              <a:t>Predictive analysis: Forecasts trends for future business growth</a:t>
            </a:r>
            <a:r>
              <a:rPr lang="en-US" dirty="0"/>
              <a:t>.</a:t>
            </a:r>
          </a:p>
          <a:p>
            <a:pPr algn="just"/>
            <a:r>
              <a:rPr lang="en-US" sz="2800" dirty="0"/>
              <a:t>Any Questions?</a:t>
            </a:r>
            <a:endParaRPr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D14A-AF83-B2AA-53C5-32384D8D7491}"/>
              </a:ext>
            </a:extLst>
          </p:cNvPr>
          <p:cNvSpPr>
            <a:spLocks noGrp="1"/>
          </p:cNvSpPr>
          <p:nvPr>
            <p:ph type="title"/>
          </p:nvPr>
        </p:nvSpPr>
        <p:spPr>
          <a:xfrm>
            <a:off x="627321" y="2857500"/>
            <a:ext cx="8229600" cy="1143000"/>
          </a:xfrm>
        </p:spPr>
        <p:txBody>
          <a:bodyPr/>
          <a:lstStyle/>
          <a:p>
            <a:r>
              <a:rPr lang="en-US" dirty="0"/>
              <a:t>THANK YOU…</a:t>
            </a:r>
            <a:endParaRPr lang="en-IN" dirty="0"/>
          </a:p>
        </p:txBody>
      </p:sp>
    </p:spTree>
    <p:extLst>
      <p:ext uri="{BB962C8B-B14F-4D97-AF65-F5344CB8AC3E}">
        <p14:creationId xmlns:p14="http://schemas.microsoft.com/office/powerpoint/2010/main" val="363782093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8005</TotalTime>
  <Words>379</Words>
  <Application>Microsoft Office PowerPoint</Application>
  <PresentationFormat>On-screen Show (4:3)</PresentationFormat>
  <Paragraphs>52</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Trebuchet MS</vt:lpstr>
      <vt:lpstr>Wingdings 3</vt:lpstr>
      <vt:lpstr>Facet</vt:lpstr>
      <vt:lpstr>SALES DATASET ANALYSIS</vt:lpstr>
      <vt:lpstr>Project Overview &amp; Objectives</vt:lpstr>
      <vt:lpstr>Data Description and Preparation</vt:lpstr>
      <vt:lpstr>Key Metrics Calculation and Data Analysis</vt:lpstr>
      <vt:lpstr>Pivot Tables and Pivot Charts</vt:lpstr>
      <vt:lpstr>Dashboard Overview</vt:lpstr>
      <vt:lpstr>What-If Analysis &amp; Goal Seek</vt:lpstr>
      <vt:lpstr>Macros and Automation</vt:lpstr>
      <vt:lpstr>Insights and Recommendations</vt:lpstr>
      <vt:lpstr>Conclusion and Questions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cp:keywords/>
  <dc:description>generated using python-pptx</dc:description>
  <cp:lastModifiedBy>Kiran M</cp:lastModifiedBy>
  <cp:revision>14</cp:revision>
  <dcterms:created xsi:type="dcterms:W3CDTF">2013-01-27T09:14:16Z</dcterms:created>
  <dcterms:modified xsi:type="dcterms:W3CDTF">2025-12-14T19:48:53Z</dcterms:modified>
  <cp:category/>
</cp:coreProperties>
</file>